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59"/>
  </p:normalViewPr>
  <p:slideViewPr>
    <p:cSldViewPr snapToGrid="0" snapToObjects="1">
      <p:cViewPr varScale="1">
        <p:scale>
          <a:sx n="142" d="100"/>
          <a:sy n="142" d="100"/>
        </p:scale>
        <p:origin x="8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Aquatic Foods in the North Maluku Diet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CADCFC"/>
                </a:solidFill>
                <a:latin typeface="Arial"/>
              </a:rPr>
              <a:t>Household Consumption and Nutrient Adequacy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dirty="0">
                <a:solidFill>
                  <a:srgbClr val="CADCFC"/>
                </a:solidFill>
                <a:latin typeface="Arial"/>
              </a:rPr>
              <a:t>SUSENAS March 2020</a:t>
            </a:r>
          </a:p>
          <a:p>
            <a:pPr algn="ctr">
              <a:spcAft>
                <a:spcPts val="600"/>
              </a:spcAft>
            </a:pPr>
            <a:r>
              <a:rPr sz="1400" b="0" dirty="0">
                <a:solidFill>
                  <a:srgbClr val="CADCFC"/>
                </a:solidFill>
                <a:latin typeface="Arial"/>
              </a:rPr>
              <a:t>Farid Anna</a:t>
            </a:r>
            <a:r>
              <a:rPr lang="en-US" sz="1400" b="0" dirty="0">
                <a:solidFill>
                  <a:srgbClr val="CADCFC"/>
                </a:solidFill>
                <a:latin typeface="Arial"/>
              </a:rPr>
              <a:t>m</a:t>
            </a:r>
            <a:endParaRPr sz="1400" b="0" dirty="0">
              <a:solidFill>
                <a:srgbClr val="CADCF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D" sz="2400" b="1">
                <a:latin typeface="Arial"/>
              </a:rPr>
              <a:t>Average Daily Food Consumption per Capita by District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88924" y="1993392"/>
            <a:ext cx="3945875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ID" sz="1300" dirty="0">
                <a:latin typeface="Arial"/>
              </a:rPr>
              <a:t>▪ Daily food consumption is 770 to 930 g per person across the ten districts.</a:t>
            </a:r>
          </a:p>
          <a:p>
            <a:pPr>
              <a:spcAft>
                <a:spcPts val="1000"/>
              </a:spcAft>
            </a:pPr>
            <a:r>
              <a:rPr lang="en-ID" sz="1300" dirty="0">
                <a:latin typeface="Arial"/>
              </a:rPr>
              <a:t>▪ Aquatic foods add 80 to 130 g per person per day in every district.</a:t>
            </a:r>
          </a:p>
          <a:p>
            <a:pPr>
              <a:spcAft>
                <a:spcPts val="1000"/>
              </a:spcAft>
            </a:pPr>
            <a:r>
              <a:rPr lang="en-ID" sz="1300" dirty="0">
                <a:latin typeface="Arial"/>
              </a:rPr>
              <a:t>▪ The weighted provincial fish figure is 101.6 g per person per day, match to the BPS March 2020 report.</a:t>
            </a:r>
          </a:p>
          <a:p>
            <a:pPr>
              <a:spcAft>
                <a:spcPts val="1000"/>
              </a:spcAft>
            </a:pPr>
            <a:r>
              <a:rPr lang="en-ID" sz="1300" dirty="0">
                <a:latin typeface="Arial"/>
              </a:rPr>
              <a:t>▪ Aquatic foods are 9 to 15% of food weight: highest in Kepulauan Sula, Halmahera Selatan, and Halmahera Tengah, lowest in Pulau Morotai.</a:t>
            </a:r>
          </a:p>
        </p:txBody>
      </p:sp>
      <p:pic>
        <p:nvPicPr>
          <p:cNvPr id="5" name="Picture 4" descr="consumption_capita_di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3634"/>
            <a:ext cx="6985050" cy="43307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Arial"/>
              </a:rPr>
              <a:t>Urban and Rural Aquatic Consumption per Capita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78040" y="1371600"/>
            <a:ext cx="45537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latin typeface="Arial"/>
              </a:rPr>
              <a:t>▪ Urban and rural fish consumption differ by less than 5 g per day in Halmahera Tengah, Halmahera Utara, Kota Ternate and Kota Tidore Kepulauan.</a:t>
            </a:r>
          </a:p>
          <a:p>
            <a:pPr>
              <a:spcAft>
                <a:spcPts val="1000"/>
              </a:spcAft>
            </a:pPr>
            <a:r>
              <a:rPr sz="1300">
                <a:latin typeface="Arial"/>
              </a:rPr>
              <a:t>▪ Rural consumption is higher in Halmahera Timur (108 vs 64 g). Urban consumption is higher in Pulau Morotai (116 vs 76 g) and Halmahera Selatan (150 vs 113 g).</a:t>
            </a:r>
          </a:p>
          <a:p>
            <a:pPr>
              <a:spcAft>
                <a:spcPts val="1000"/>
              </a:spcAft>
            </a:pPr>
            <a:r>
              <a:rPr sz="1300">
                <a:latin typeface="Arial"/>
              </a:rPr>
              <a:t>▪ Pulau Taliabu has a rural sample only and the highest fish consumption, 127 g per person per day.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309360" cy="3911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Arial"/>
              </a:rPr>
              <a:t>Subsistence Share of Consumption: Aquatic and Non-Aquatic Foods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78040" y="1371600"/>
            <a:ext cx="4553712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Province-wide, 17% of aquatic food and 27% of non-aquatic food </a:t>
            </a:r>
            <a:r>
              <a:rPr lang="en-ID" sz="1300" dirty="0">
                <a:latin typeface="Arial"/>
              </a:rPr>
              <a:t>come</a:t>
            </a:r>
            <a:r>
              <a:rPr sz="1300" dirty="0">
                <a:latin typeface="Arial"/>
              </a:rPr>
              <a:t> from subsistence.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Non-aquatic food has </a:t>
            </a:r>
            <a:r>
              <a:rPr lang="en-ID" sz="1300" dirty="0">
                <a:latin typeface="Arial"/>
              </a:rPr>
              <a:t>a</a:t>
            </a:r>
            <a:r>
              <a:rPr sz="1300" dirty="0">
                <a:latin typeface="Arial"/>
              </a:rPr>
              <a:t> higher subsistence share in nine districts. Kepulauan Sula is the exception: 20% for aquatic food and 13% for non-aquatic food.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Pulau Morotai has the highest </a:t>
            </a:r>
            <a:r>
              <a:rPr lang="en-ID" sz="1300" dirty="0">
                <a:latin typeface="Arial"/>
              </a:rPr>
              <a:t>shares:</a:t>
            </a:r>
            <a:r>
              <a:rPr sz="1300" dirty="0">
                <a:latin typeface="Arial"/>
              </a:rPr>
              <a:t> 33% aquatic and 43% non-aquatic. Kota Ternate has the lowest, 4% and 9%.</a:t>
            </a:r>
          </a:p>
        </p:txBody>
      </p:sp>
      <p:pic>
        <p:nvPicPr>
          <p:cNvPr id="5" name="Picture 4" descr="subsistence_share_di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309360" cy="41641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latin typeface="Arial"/>
              </a:rPr>
              <a:t>Aquatic Consumption by District and Production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50608" y="2196155"/>
            <a:ext cx="4553712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Capture fisheries supply 77% of aquatic food weight, 78 g per person per day.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Species that come from both aquaculture and capture supply 22%. Aquaculture-only species supply 1%.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309360" cy="41641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dirty="0">
                <a:latin typeface="Arial"/>
              </a:rPr>
              <a:t>Aquatic Consumption by </a:t>
            </a:r>
            <a:r>
              <a:rPr lang="en-US" sz="2400" b="1" dirty="0">
                <a:latin typeface="Arial"/>
              </a:rPr>
              <a:t>Fish </a:t>
            </a:r>
            <a:r>
              <a:rPr sz="2400" b="1" dirty="0">
                <a:latin typeface="Arial"/>
              </a:rPr>
              <a:t>Species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288119"/>
            <a:ext cx="1091404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The Scombridae group (tongkol, tuna, cakalang) is the largest contributor, 37 g per person per day, about </a:t>
            </a:r>
            <a:r>
              <a:rPr lang="en-ID" sz="1300" dirty="0">
                <a:latin typeface="Arial"/>
              </a:rPr>
              <a:t>one-third</a:t>
            </a:r>
            <a:r>
              <a:rPr sz="1300" dirty="0">
                <a:latin typeface="Arial"/>
              </a:rPr>
              <a:t> of all fish.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Other fresh fish (Actinopterygii) follows with 22 g, then Caesio cuning (11 g) and Rastrelliger (10 g).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The right panel shows the remaining species, each under 2 g per day.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Fresh and preserved forms of a species are combined.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048" y="932688"/>
            <a:ext cx="9017306" cy="4251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latin typeface="Arial"/>
              </a:rPr>
              <a:t>Nutrient Adequacy: Share of DRI Met per Capita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81088" y="1371600"/>
            <a:ext cx="4553712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Iron and zinc intake are below the requirement: 61% for iron and 67% for zinc (reference: adult women).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Niacin intake is 155% of the requirement. Aquatic foods provide 38</a:t>
            </a:r>
            <a:r>
              <a:rPr lang="en-US" sz="1300" dirty="0">
                <a:latin typeface="Arial"/>
              </a:rPr>
              <a:t>% </a:t>
            </a:r>
            <a:r>
              <a:rPr sz="1300" dirty="0">
                <a:latin typeface="Arial"/>
              </a:rPr>
              <a:t>of it.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Aquatic foods provide 4% of the iron requirement and 11% of the zinc requirement, from 12% of food weight.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Fish values now include the edible portion (19 to 61%), so fish contributions are lower than in the previous version.</a:t>
            </a:r>
          </a:p>
        </p:txBody>
      </p:sp>
      <p:pic>
        <p:nvPicPr>
          <p:cNvPr id="5" name="Picture 4" descr="nutrient_dri_iron_zinc_niac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309360" cy="3911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latin typeface="Arial"/>
              </a:rPr>
              <a:t>QC: Implausible Volumes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78040" y="1371600"/>
            <a:ext cx="4553712" cy="14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Of 146,636 consumption records, 18 report amounts far above what other households buy of the same item.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Ten of the 18 are instant noodles: households that report many packets per person per day, possibly small food stalls.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30936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latin typeface="Arial"/>
              </a:rPr>
              <a:t>QC: Implausible Composition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822" y="4994737"/>
            <a:ext cx="9891934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Screening the composition values flags six items across three nutrients.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The copper values (520 mg per 100 g of peanuts, 117 mg per 100 g of apples) are impossible and point to a unit error in TKPI.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The other two flags are true extremes, not errors: salt is 99% mineral matter, and dried spices are rich in thiamin.</a:t>
            </a:r>
          </a:p>
        </p:txBody>
      </p:sp>
      <p:pic>
        <p:nvPicPr>
          <p:cNvPr id="5" name="Picture 4" descr="qa_fct_flag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19"/>
            <a:ext cx="10417178" cy="34723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dirty="0">
                <a:latin typeface="Arial"/>
              </a:rPr>
              <a:t>Data Quality: Missing Values by Nutrient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78040" y="1371600"/>
            <a:ext cx="4553712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Energy, protein, </a:t>
            </a:r>
            <a:r>
              <a:rPr lang="en-ID" sz="1300" dirty="0">
                <a:latin typeface="Arial"/>
              </a:rPr>
              <a:t>fat,</a:t>
            </a:r>
            <a:r>
              <a:rPr sz="1300" dirty="0">
                <a:latin typeface="Arial"/>
              </a:rPr>
              <a:t> and carbohydrate are complete </a:t>
            </a:r>
            <a:r>
              <a:rPr lang="en-ID" sz="1300" dirty="0">
                <a:latin typeface="Arial"/>
              </a:rPr>
              <a:t>in</a:t>
            </a:r>
            <a:r>
              <a:rPr sz="1300" dirty="0">
                <a:latin typeface="Arial"/>
              </a:rPr>
              <a:t> every record.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Retinol is missing in 36% of records and copper in 10%. The other minerals and vitamins are missing in 2 to 9%.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DHA+EPA is missing in 80% of records because only fish and a few prepared foods carry a value.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A missing value counts as zero in the intake, so these nutrients are underestimated.</a:t>
            </a:r>
          </a:p>
        </p:txBody>
      </p:sp>
      <p:pic>
        <p:nvPicPr>
          <p:cNvPr id="5" name="Picture 4" descr="consumption_missing_by_nutr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309360" cy="55206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dirty="0">
                <a:latin typeface="Arial"/>
              </a:rPr>
              <a:t>Data Quality: Missing-Data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2564" y="927492"/>
            <a:ext cx="2268071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Each bar is one missing-data pattern: a set of nutrients that are blank in the same records.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62,257 records lack only DHA+EPA. 38,746 lack DHA+EPA and retinol.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6,934 records lack every vitamin and most minerals. These are three gap-filling items (coffee, MSG, packaged bumbu) built from product labels, which declare few nutrients.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/>
              </a:rPr>
              <a:t>▪ No record lacks energy, protein, </a:t>
            </a:r>
            <a:r>
              <a:rPr lang="en-ID" sz="1300" dirty="0">
                <a:latin typeface="Arial"/>
              </a:rPr>
              <a:t>fat,</a:t>
            </a:r>
            <a:r>
              <a:rPr sz="1300" dirty="0">
                <a:latin typeface="Arial"/>
              </a:rPr>
              <a:t> or carbohydrate.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7" y="927492"/>
            <a:ext cx="9081247" cy="48857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latin typeface="Arial"/>
              </a:rPr>
              <a:t>Summary: What Aquatic Foods Contribute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▪ Aquatic foods are about 100 g per person per day, 9 to 15% of food weight, in all ten districts.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▪ Aquatic foods provide 22% of protein, 24% of niacin, 16% of zinc and 7% of iron intake.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▪ Capture fisheries supply 77% of aquatic food, led by the Scombridae group. Aquaculture supplies 1%.</a:t>
            </a:r>
          </a:p>
          <a:p>
            <a:pPr>
              <a:spcAft>
                <a:spcPts val="1000"/>
              </a:spcAft>
            </a:pP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▪ Iron (61% of requirement) and zinc (67%) are below the requirement in every district. Niacin exceeds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915</Words>
  <Application>Microsoft Macintosh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Annam, Farid</cp:lastModifiedBy>
  <cp:revision>12</cp:revision>
  <dcterms:created xsi:type="dcterms:W3CDTF">2013-01-27T09:14:16Z</dcterms:created>
  <dcterms:modified xsi:type="dcterms:W3CDTF">2026-09-09T02:52:02Z</dcterms:modified>
  <cp:category/>
</cp:coreProperties>
</file>