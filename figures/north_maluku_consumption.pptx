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5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0"/>
    <p:restoredTop sz="94714"/>
  </p:normalViewPr>
  <p:slideViewPr>
    <p:cSldViewPr snapToGrid="0" snapToObjects="1">
      <p:cViewPr varScale="1">
        <p:scale>
          <a:sx n="110" d="100"/>
          <a:sy n="110" d="100"/>
        </p:scale>
        <p:origin x="2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lut.bps.go.id/en/publication/2021/03/02/e536aa8b362e3b5444bfa732/maluku-utara-province-household-consumption-and-expenditure-march-2020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Aquatic Foods in the North Maluku Diet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CADCFC"/>
                </a:solidFill>
                <a:latin typeface="Arial"/>
              </a:rPr>
              <a:t>Household Consumption and Nutrient Adequacy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dirty="0">
                <a:solidFill>
                  <a:srgbClr val="CADCFC"/>
                </a:solidFill>
                <a:latin typeface="Arial"/>
              </a:rPr>
              <a:t>SUSENAS March 2020</a:t>
            </a:r>
          </a:p>
          <a:p>
            <a:pPr algn="ctr">
              <a:spcAft>
                <a:spcPts val="600"/>
              </a:spcAft>
            </a:pPr>
            <a:r>
              <a:rPr sz="1400" b="0" dirty="0">
                <a:solidFill>
                  <a:srgbClr val="CADCFC"/>
                </a:solidFill>
                <a:latin typeface="Arial"/>
              </a:rPr>
              <a:t>Farid Anna</a:t>
            </a:r>
            <a:r>
              <a:rPr lang="en-US" sz="1400" b="0" dirty="0">
                <a:solidFill>
                  <a:srgbClr val="CADCFC"/>
                </a:solidFill>
                <a:latin typeface="Arial"/>
              </a:rPr>
              <a:t>m</a:t>
            </a:r>
            <a:endParaRPr sz="1400" b="0" dirty="0">
              <a:solidFill>
                <a:srgbClr val="CADCFC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ID" sz="2400" b="1">
                <a:latin typeface="Arial"/>
              </a:rPr>
              <a:t>Average Daily Food Consumption per Capita by District</a:t>
            </a:r>
          </a:p>
        </p:txBody>
      </p:sp>
      <p:pic>
        <p:nvPicPr>
          <p:cNvPr id="3" name="Picture 2" descr="consumption_capita_distr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63634"/>
            <a:ext cx="6985050" cy="43307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88924" y="1993392"/>
            <a:ext cx="394587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lang="en-ID" sz="1300" dirty="0">
                <a:latin typeface="Arial"/>
              </a:rPr>
              <a:t>▪ A person in North Maluku consumes about 770 to 930 g of food per day, a narrow range: no district eats dramatically more than another.</a:t>
            </a:r>
          </a:p>
          <a:p>
            <a:pPr>
              <a:spcAft>
                <a:spcPts val="1000"/>
              </a:spcAft>
            </a:pPr>
            <a:r>
              <a:rPr lang="en-ID" sz="1300" dirty="0">
                <a:latin typeface="Arial"/>
              </a:rPr>
              <a:t>▪ Aquatic foods contribute a similar amount everywhere, about 80 to 130 g per person per day.</a:t>
            </a:r>
          </a:p>
          <a:p>
            <a:pPr>
              <a:spcAft>
                <a:spcPts val="1000"/>
              </a:spcAft>
            </a:pPr>
            <a:r>
              <a:rPr lang="en-ID" sz="1400" dirty="0">
                <a:latin typeface="Arial"/>
              </a:rPr>
              <a:t>▪ </a:t>
            </a:r>
            <a:r>
              <a:rPr lang="en-ID" sz="1300" dirty="0">
                <a:latin typeface="Arial"/>
              </a:rPr>
              <a:t>The weighted fish figure, 101.6 g per capita per day, matches the published </a:t>
            </a:r>
            <a:r>
              <a:rPr lang="en-ID" sz="1300" dirty="0">
                <a:latin typeface="Arial"/>
                <a:hlinkClick r:id="rId3"/>
              </a:rPr>
              <a:t>BPS March 2020 </a:t>
            </a:r>
            <a:r>
              <a:rPr lang="en-ID" sz="1300" dirty="0">
                <a:latin typeface="Arial"/>
              </a:rPr>
              <a:t>report for North Maluku.</a:t>
            </a:r>
          </a:p>
          <a:p>
            <a:pPr>
              <a:spcAft>
                <a:spcPts val="1000"/>
              </a:spcAft>
            </a:pPr>
            <a:r>
              <a:rPr lang="en-ID" sz="1300" dirty="0">
                <a:latin typeface="Arial"/>
              </a:rPr>
              <a:t>▪ Aquatic share of the diet is 9 to 15% of food weight, highest in </a:t>
            </a:r>
            <a:r>
              <a:rPr lang="en-ID" sz="1300" dirty="0" err="1">
                <a:latin typeface="Arial"/>
              </a:rPr>
              <a:t>Kepulauan</a:t>
            </a:r>
            <a:r>
              <a:rPr lang="en-ID" sz="1300" dirty="0">
                <a:latin typeface="Arial"/>
              </a:rPr>
              <a:t> Sula, Halmahera Selatan and Halmahera Tengah, lowest in Pulau </a:t>
            </a:r>
            <a:r>
              <a:rPr lang="en-ID" sz="1300" dirty="0" err="1">
                <a:latin typeface="Arial"/>
              </a:rPr>
              <a:t>Morotai</a:t>
            </a:r>
            <a:r>
              <a:rPr lang="en-ID" sz="1300" dirty="0"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latin typeface="Arial"/>
              </a:rPr>
              <a:t>Urban and Rural Aquatic Consumption per Capita</a:t>
            </a:r>
          </a:p>
        </p:txBody>
      </p:sp>
      <p:pic>
        <p:nvPicPr>
          <p:cNvPr id="3" name="Picture 2" descr="fish_consumption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309360" cy="39118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78040" y="1371600"/>
            <a:ext cx="4553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latin typeface="Arial"/>
              </a:rPr>
              <a:t>▪ Urban and rural fish consumption are close in most districts: in Halmahera Utara, Kota Ternate and Halmahera Tengah the two are nearly equal.</a:t>
            </a:r>
          </a:p>
          <a:p>
            <a:pPr>
              <a:spcAft>
                <a:spcPts val="1000"/>
              </a:spcAft>
            </a:pPr>
            <a:r>
              <a:rPr sz="1300">
                <a:latin typeface="Arial"/>
              </a:rPr>
              <a:t>▪ The largest gaps run in both directions: rural consumption is higher in Halmahera Timur (108 vs 64 g per day), while urban is higher in Pulau Morotai and Halmahera Selatan by about 35 to 40 g.</a:t>
            </a:r>
          </a:p>
          <a:p>
            <a:pPr>
              <a:spcAft>
                <a:spcPts val="1000"/>
              </a:spcAft>
            </a:pPr>
            <a:r>
              <a:rPr sz="1300">
                <a:latin typeface="Arial"/>
              </a:rPr>
              <a:t>▪ Pulau Taliabu is entirely rural and has the highest fish consumption in the province, about 127 g per person per 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latin typeface="Arial"/>
              </a:rPr>
              <a:t>Aquatic Consumption by District and Acquisition</a:t>
            </a:r>
          </a:p>
        </p:txBody>
      </p:sp>
      <p:pic>
        <p:nvPicPr>
          <p:cNvPr id="3" name="Picture 2" descr="fish_consumption_acquisition_distr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309360" cy="41641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78040" y="1371600"/>
            <a:ext cx="4553712" cy="1549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Across the province, about 83% of fish is purchased and 17% comes from subsistence</a:t>
            </a:r>
            <a:r>
              <a:rPr lang="en-US" sz="1300" dirty="0">
                <a:latin typeface="Arial"/>
              </a:rPr>
              <a:t>.</a:t>
            </a:r>
            <a:endParaRPr sz="1300" dirty="0">
              <a:latin typeface="Arial"/>
            </a:endParaRP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The subsistence share is largest in Pulau </a:t>
            </a:r>
            <a:r>
              <a:rPr sz="1300" dirty="0" err="1">
                <a:latin typeface="Arial"/>
              </a:rPr>
              <a:t>Morotai</a:t>
            </a:r>
            <a:r>
              <a:rPr sz="1300" dirty="0">
                <a:latin typeface="Arial"/>
              </a:rPr>
              <a:t>, about a third of its fish, and smallest in Kota Ternate, about 4%.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Pulau </a:t>
            </a:r>
            <a:r>
              <a:rPr sz="1300" dirty="0" err="1">
                <a:latin typeface="Arial"/>
              </a:rPr>
              <a:t>Taliabu</a:t>
            </a:r>
            <a:r>
              <a:rPr sz="1300" dirty="0">
                <a:latin typeface="Arial"/>
              </a:rPr>
              <a:t> eats the most fish, and most of it is purchased, about 105 of its 126 g per person per 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Arial"/>
              </a:rPr>
              <a:t>Aquatic Consumption by District and Production Method</a:t>
            </a:r>
          </a:p>
        </p:txBody>
      </p:sp>
      <p:pic>
        <p:nvPicPr>
          <p:cNvPr id="3" name="Picture 2" descr="fish_consumption_method_distr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309360" cy="41641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50608" y="2196155"/>
            <a:ext cx="4553712" cy="1949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Fish </a:t>
            </a:r>
            <a:r>
              <a:rPr lang="en-ID" sz="1300" dirty="0">
                <a:latin typeface="Arial"/>
              </a:rPr>
              <a:t>from wild-capture fisheries in North Maluku</a:t>
            </a:r>
            <a:r>
              <a:rPr sz="1300" dirty="0">
                <a:latin typeface="Arial"/>
              </a:rPr>
              <a:t> supply 77% of aquatic food weight, about 78 g per person per day.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Species that come from both farming and wild catch account for 22%; purely </a:t>
            </a:r>
            <a:r>
              <a:rPr lang="en-US" sz="1300" dirty="0">
                <a:latin typeface="Arial"/>
              </a:rPr>
              <a:t>aquaculture</a:t>
            </a:r>
            <a:r>
              <a:rPr sz="1300" dirty="0">
                <a:latin typeface="Arial"/>
              </a:rPr>
              <a:t> species are almost absent (1%).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This pattern holds in every district even where total fish consumption is highest, farmed fish plays </a:t>
            </a:r>
            <a:r>
              <a:rPr lang="en-US" sz="1300" dirty="0">
                <a:latin typeface="Arial"/>
              </a:rPr>
              <a:t>less </a:t>
            </a:r>
            <a:r>
              <a:rPr sz="1300" dirty="0">
                <a:latin typeface="Arial"/>
              </a:rPr>
              <a:t>role</a:t>
            </a:r>
            <a:r>
              <a:rPr lang="en-US" sz="1300" dirty="0">
                <a:latin typeface="Arial"/>
              </a:rPr>
              <a:t> in a person's diet</a:t>
            </a:r>
            <a:r>
              <a:rPr sz="1300" dirty="0"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 dirty="0">
                <a:latin typeface="Arial"/>
              </a:rPr>
              <a:t>Aquatic Consumption by </a:t>
            </a:r>
            <a:r>
              <a:rPr lang="en-US" sz="2400" b="1" dirty="0">
                <a:latin typeface="Arial"/>
              </a:rPr>
              <a:t>Fish </a:t>
            </a:r>
            <a:r>
              <a:rPr sz="2400" b="1" dirty="0">
                <a:latin typeface="Arial"/>
              </a:rPr>
              <a:t>Species</a:t>
            </a:r>
          </a:p>
        </p:txBody>
      </p:sp>
      <p:pic>
        <p:nvPicPr>
          <p:cNvPr id="3" name="Picture 2" descr="fish_consumption_sciname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048" y="932688"/>
            <a:ext cx="9017306" cy="43554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87680" y="5288119"/>
            <a:ext cx="10914043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The tuna group (Scombridae: </a:t>
            </a:r>
            <a:r>
              <a:rPr sz="1300" dirty="0" err="1">
                <a:latin typeface="Arial"/>
              </a:rPr>
              <a:t>tongkol</a:t>
            </a:r>
            <a:r>
              <a:rPr sz="1300" dirty="0">
                <a:latin typeface="Arial"/>
              </a:rPr>
              <a:t>, tuna, </a:t>
            </a:r>
            <a:r>
              <a:rPr sz="1300" dirty="0" err="1">
                <a:latin typeface="Arial"/>
              </a:rPr>
              <a:t>cakalang</a:t>
            </a:r>
            <a:r>
              <a:rPr sz="1300" dirty="0">
                <a:latin typeface="Arial"/>
              </a:rPr>
              <a:t>) is by far the largest contributor, about 36 g per person per day, a third of all fish eaten.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</a:t>
            </a:r>
            <a:r>
              <a:rPr lang="en-US" sz="1300" dirty="0">
                <a:latin typeface="Arial"/>
              </a:rPr>
              <a:t>Composite</a:t>
            </a:r>
            <a:r>
              <a:rPr sz="1300" dirty="0">
                <a:latin typeface="Arial"/>
              </a:rPr>
              <a:t> fresh fish</a:t>
            </a:r>
            <a:r>
              <a:rPr lang="en-US" sz="1300" dirty="0">
                <a:latin typeface="Arial"/>
              </a:rPr>
              <a:t> (ikan segar </a:t>
            </a:r>
            <a:r>
              <a:rPr lang="en-US" sz="1300" dirty="0" err="1">
                <a:latin typeface="Arial"/>
              </a:rPr>
              <a:t>lainnya</a:t>
            </a:r>
            <a:r>
              <a:rPr lang="en-US" sz="1300" dirty="0">
                <a:latin typeface="Arial"/>
              </a:rPr>
              <a:t>)</a:t>
            </a:r>
            <a:r>
              <a:rPr sz="1300" dirty="0">
                <a:latin typeface="Arial"/>
              </a:rPr>
              <a:t> comes second (21 g), followed by </a:t>
            </a:r>
            <a:r>
              <a:rPr sz="1300" dirty="0" err="1">
                <a:latin typeface="Arial"/>
              </a:rPr>
              <a:t>Caesio</a:t>
            </a:r>
            <a:r>
              <a:rPr sz="1300" dirty="0">
                <a:latin typeface="Arial"/>
              </a:rPr>
              <a:t> </a:t>
            </a:r>
            <a:r>
              <a:rPr sz="1300" dirty="0" err="1">
                <a:latin typeface="Arial"/>
              </a:rPr>
              <a:t>cuning</a:t>
            </a:r>
            <a:r>
              <a:rPr sz="1300" dirty="0">
                <a:latin typeface="Arial"/>
              </a:rPr>
              <a:t> (11 g) and </a:t>
            </a:r>
            <a:r>
              <a:rPr sz="1300" dirty="0" err="1">
                <a:latin typeface="Arial"/>
              </a:rPr>
              <a:t>Rastrelliger</a:t>
            </a:r>
            <a:r>
              <a:rPr sz="1300" dirty="0">
                <a:latin typeface="Arial"/>
              </a:rPr>
              <a:t>, the mackerel group (10 g).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</a:t>
            </a:r>
            <a:r>
              <a:rPr lang="en-ID" sz="1300" dirty="0">
                <a:latin typeface="Arial"/>
              </a:rPr>
              <a:t>On the right panel, the remaining species contribute under 4 g per day.</a:t>
            </a:r>
            <a:endParaRPr sz="1300" dirty="0">
              <a:latin typeface="Arial"/>
            </a:endParaRP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Preserved and fresh forms of the same species are combined.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Arial"/>
              </a:rPr>
              <a:t>Nutrient Adequacy: Share of DRI Met per Capita</a:t>
            </a:r>
          </a:p>
        </p:txBody>
      </p:sp>
      <p:pic>
        <p:nvPicPr>
          <p:cNvPr id="3" name="Picture 2" descr="nutrient_dri_iron_zinc_niac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309360" cy="39118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81088" y="2069968"/>
            <a:ext cx="4553712" cy="2149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Iron and zinc fall short of the daily requirement: average intake reaches 67% for iron and 76% for zinc (reference: adult women).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Niacin is the opposite </a:t>
            </a:r>
            <a:r>
              <a:rPr lang="en-ID" sz="1300" dirty="0">
                <a:latin typeface="Arial"/>
              </a:rPr>
              <a:t>story:</a:t>
            </a:r>
            <a:r>
              <a:rPr sz="1300" dirty="0">
                <a:latin typeface="Arial"/>
              </a:rPr>
              <a:t> intake nearly doubles the requirement (193%), and aquatic foods alone cover </a:t>
            </a:r>
            <a:r>
              <a:rPr lang="en-ID" sz="1300" dirty="0">
                <a:latin typeface="Arial"/>
              </a:rPr>
              <a:t>three-quarters</a:t>
            </a:r>
            <a:r>
              <a:rPr sz="1300" dirty="0">
                <a:latin typeface="Arial"/>
              </a:rPr>
              <a:t> of it.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The aquatic bars show how much fish matters beyond its weight</a:t>
            </a:r>
            <a:r>
              <a:rPr lang="en-US" sz="1300" dirty="0">
                <a:latin typeface="Arial"/>
              </a:rPr>
              <a:t>.</a:t>
            </a:r>
            <a:r>
              <a:rPr sz="1300" dirty="0">
                <a:latin typeface="Arial"/>
              </a:rPr>
              <a:t> </a:t>
            </a:r>
            <a:r>
              <a:rPr lang="en-US" sz="1300" dirty="0">
                <a:latin typeface="Arial"/>
              </a:rPr>
              <a:t>F</a:t>
            </a:r>
            <a:r>
              <a:rPr sz="1300" dirty="0">
                <a:latin typeface="Arial"/>
              </a:rPr>
              <a:t>ish supplies a fifth of the zinc requirement and a tenth of iron, while making up only an eighth of the diet.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Arial"/>
              </a:rPr>
              <a:t>QC: Implausible Volumes</a:t>
            </a:r>
          </a:p>
        </p:txBody>
      </p:sp>
      <p:pic>
        <p:nvPicPr>
          <p:cNvPr id="3" name="Picture 2" descr="qa_volume_fla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309360" cy="44165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78040" y="1371600"/>
            <a:ext cx="4553712" cy="1420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Out of roughly 140,000 consumption records, only 18 report amounts far outside what other households buy of the same item.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More than half concern instant noodles: households reporting implausibly many packets per person per day</a:t>
            </a:r>
            <a:r>
              <a:rPr lang="en-US" sz="1300" dirty="0">
                <a:latin typeface="Arial"/>
              </a:rPr>
              <a:t> (possibly a small restaurant such as </a:t>
            </a:r>
            <a:r>
              <a:rPr lang="en-US" sz="1300" i="1" dirty="0" err="1">
                <a:latin typeface="Arial"/>
              </a:rPr>
              <a:t>warung</a:t>
            </a:r>
            <a:r>
              <a:rPr lang="en-US" sz="1300" dirty="0">
                <a:latin typeface="Arial"/>
              </a:rPr>
              <a:t>)</a:t>
            </a:r>
            <a:r>
              <a:rPr sz="1300" dirty="0"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Arial"/>
              </a:rPr>
              <a:t>QC: Implausible Composition Values</a:t>
            </a:r>
          </a:p>
        </p:txBody>
      </p:sp>
      <p:pic>
        <p:nvPicPr>
          <p:cNvPr id="3" name="Picture 2" descr="qa_fct_flag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19"/>
            <a:ext cx="10417178" cy="36807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9822" y="4994737"/>
            <a:ext cx="9891934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Screening the food composition values flags 8 food items across 5 nutrients.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The copper values (520 mg per 100 g of peanuts</a:t>
            </a:r>
            <a:r>
              <a:rPr lang="en-US" sz="1300" dirty="0">
                <a:latin typeface="Arial"/>
              </a:rPr>
              <a:t> and</a:t>
            </a:r>
            <a:r>
              <a:rPr sz="1300" dirty="0">
                <a:latin typeface="Arial"/>
              </a:rPr>
              <a:t> 117</a:t>
            </a:r>
            <a:r>
              <a:rPr lang="en-US" sz="1300" dirty="0">
                <a:latin typeface="Arial"/>
              </a:rPr>
              <a:t> mg</a:t>
            </a:r>
            <a:r>
              <a:rPr sz="1300" dirty="0">
                <a:latin typeface="Arial"/>
              </a:rPr>
              <a:t> </a:t>
            </a:r>
            <a:r>
              <a:rPr lang="en-ID" sz="1300" dirty="0">
                <a:latin typeface="Arial"/>
              </a:rPr>
              <a:t>per 100 g of</a:t>
            </a:r>
            <a:r>
              <a:rPr sz="1300" dirty="0">
                <a:latin typeface="Arial"/>
              </a:rPr>
              <a:t> apples) are impossible and point </a:t>
            </a:r>
            <a:r>
              <a:rPr lang="en-ID" sz="1300" dirty="0">
                <a:latin typeface="Arial"/>
              </a:rPr>
              <a:t>to</a:t>
            </a:r>
            <a:r>
              <a:rPr sz="1300" dirty="0">
                <a:latin typeface="Arial"/>
              </a:rPr>
              <a:t> a unit error in the source table</a:t>
            </a:r>
            <a:r>
              <a:rPr lang="en-US" sz="1300" dirty="0">
                <a:latin typeface="Arial"/>
              </a:rPr>
              <a:t> (TKPI)</a:t>
            </a:r>
            <a:r>
              <a:rPr sz="1300" dirty="0">
                <a:latin typeface="Arial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/>
              </a:rPr>
              <a:t>▪ The other flags are true extremes, not errors: dry tea leaves are exceptionally rich in potassium, and salt is almost pure mineral matter.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Arial"/>
              </a:rPr>
              <a:t>Summary: What Aquatic Foods Contribute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dirty="0">
                <a:latin typeface="Arial" panose="020B0604020202020204" pitchFamily="34" charset="0"/>
                <a:cs typeface="Arial" panose="020B0604020202020204" pitchFamily="34" charset="0"/>
              </a:rPr>
              <a:t>▪ By weight, aquatic foods are a modest part of the North Maluku diet: about 100 g per person per day, or 9 to 15% of food consumed, remarkably consistent across all ten districts.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 panose="020B0604020202020204" pitchFamily="34" charset="0"/>
                <a:cs typeface="Arial" panose="020B0604020202020204" pitchFamily="34" charset="0"/>
              </a:rPr>
              <a:t>▪ </a:t>
            </a:r>
            <a:r>
              <a:rPr lang="en-ID" sz="1300" dirty="0">
                <a:latin typeface="Arial" panose="020B0604020202020204" pitchFamily="34" charset="0"/>
                <a:cs typeface="Arial" panose="020B0604020202020204" pitchFamily="34" charset="0"/>
              </a:rPr>
              <a:t>By nutrition, aquatic foods contribute far more than their share of food weight: about 40% of niacin intake, a quarter of zinc, and 15% of iron.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 panose="020B0604020202020204" pitchFamily="34" charset="0"/>
                <a:cs typeface="Arial" panose="020B0604020202020204" pitchFamily="34" charset="0"/>
              </a:rPr>
              <a:t>▪ That contribution rests almost entirely on wild capture fisheries, led by the tuna group (</a:t>
            </a:r>
            <a:r>
              <a:rPr sz="1300" dirty="0" err="1">
                <a:latin typeface="Arial" panose="020B0604020202020204" pitchFamily="34" charset="0"/>
                <a:cs typeface="Arial" panose="020B0604020202020204" pitchFamily="34" charset="0"/>
              </a:rPr>
              <a:t>tongkol</a:t>
            </a:r>
            <a:r>
              <a:rPr sz="1300" dirty="0">
                <a:latin typeface="Arial" panose="020B0604020202020204" pitchFamily="34" charset="0"/>
                <a:cs typeface="Arial" panose="020B0604020202020204" pitchFamily="34" charset="0"/>
              </a:rPr>
              <a:t>, tuna, </a:t>
            </a:r>
            <a:r>
              <a:rPr sz="1300" dirty="0" err="1">
                <a:latin typeface="Arial" panose="020B0604020202020204" pitchFamily="34" charset="0"/>
                <a:cs typeface="Arial" panose="020B0604020202020204" pitchFamily="34" charset="0"/>
              </a:rPr>
              <a:t>cakalang</a:t>
            </a:r>
            <a:r>
              <a:rPr sz="13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, meanwhile </a:t>
            </a:r>
            <a:r>
              <a:rPr sz="1300" dirty="0">
                <a:latin typeface="Arial" panose="020B0604020202020204" pitchFamily="34" charset="0"/>
                <a:cs typeface="Arial" panose="020B0604020202020204" pitchFamily="34" charset="0"/>
              </a:rPr>
              <a:t>farmed fish is </a:t>
            </a: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almost </a:t>
            </a:r>
            <a:r>
              <a:rPr sz="1300" dirty="0">
                <a:latin typeface="Arial" panose="020B0604020202020204" pitchFamily="34" charset="0"/>
                <a:cs typeface="Arial" panose="020B0604020202020204" pitchFamily="34" charset="0"/>
              </a:rPr>
              <a:t>negligible in the province's diet.</a:t>
            </a:r>
          </a:p>
          <a:p>
            <a:pPr>
              <a:spcAft>
                <a:spcPts val="1000"/>
              </a:spcAft>
            </a:pPr>
            <a:r>
              <a:rPr sz="1300" dirty="0">
                <a:latin typeface="Arial" panose="020B0604020202020204" pitchFamily="34" charset="0"/>
                <a:cs typeface="Arial" panose="020B0604020202020204" pitchFamily="34" charset="0"/>
              </a:rPr>
              <a:t>▪ The adequacy gaps are mineral gaps: iron (67% of requirement) and zinc (76%) fall short everywhere, while niacin exceed requirements, which makes fish central to </a:t>
            </a: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their diets</a:t>
            </a:r>
            <a:r>
              <a:rPr sz="13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875</Words>
  <Application>Microsoft Macintosh PowerPoint</Application>
  <PresentationFormat>Widescreen</PresentationFormat>
  <Paragraphs>42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Annam, Farid</cp:lastModifiedBy>
  <cp:revision>10</cp:revision>
  <dcterms:created xsi:type="dcterms:W3CDTF">2013-01-27T09:14:16Z</dcterms:created>
  <dcterms:modified xsi:type="dcterms:W3CDTF">2026-09-02T15:44:27Z</dcterms:modified>
  <cp:category/>
</cp:coreProperties>
</file>